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5" r:id="rId2"/>
    <p:sldId id="315" r:id="rId3"/>
    <p:sldId id="317" r:id="rId4"/>
    <p:sldId id="318" r:id="rId5"/>
    <p:sldId id="331" r:id="rId6"/>
    <p:sldId id="329" r:id="rId7"/>
    <p:sldId id="330" r:id="rId8"/>
    <p:sldId id="319" r:id="rId9"/>
    <p:sldId id="320" r:id="rId10"/>
    <p:sldId id="321" r:id="rId11"/>
    <p:sldId id="324" r:id="rId12"/>
    <p:sldId id="325" r:id="rId13"/>
    <p:sldId id="326" r:id="rId14"/>
    <p:sldId id="322" r:id="rId15"/>
    <p:sldId id="337" r:id="rId16"/>
    <p:sldId id="332" r:id="rId17"/>
    <p:sldId id="335" r:id="rId18"/>
    <p:sldId id="336" r:id="rId19"/>
    <p:sldId id="338" r:id="rId20"/>
    <p:sldId id="339" r:id="rId21"/>
    <p:sldId id="334" r:id="rId22"/>
  </p:sldIdLst>
  <p:sldSz cx="12192000" cy="6858000"/>
  <p:notesSz cx="6808788" cy="99409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F1"/>
    <a:srgbClr val="D5D5D5"/>
    <a:srgbClr val="A162D0"/>
    <a:srgbClr val="FF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70270" autoAdjust="0"/>
  </p:normalViewPr>
  <p:slideViewPr>
    <p:cSldViewPr snapToGrid="0">
      <p:cViewPr varScale="1">
        <p:scale>
          <a:sx n="61" d="100"/>
          <a:sy n="61" d="100"/>
        </p:scale>
        <p:origin x="14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7683B-26D8-724E-89B0-02249384450D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463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64375-EE74-1B43-ADD9-C3016E9127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3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712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Language</a:t>
            </a:r>
            <a:r>
              <a:rPr lang="fr-FR" baseline="0" dirty="0" smtClean="0"/>
              <a:t> voulu le plus simple possible =&gt; syntaxe simple et modulaire</a:t>
            </a:r>
            <a:br>
              <a:rPr lang="fr-FR" baseline="0" dirty="0" smtClean="0"/>
            </a:br>
            <a:r>
              <a:rPr lang="fr-FR" baseline="0" dirty="0" smtClean="0"/>
              <a:t>Orienté objet ( TOUT EST OBJET EN PYTHON ), léger, multi plateforme, open source, version 2.x et 3.x</a:t>
            </a:r>
          </a:p>
          <a:p>
            <a:r>
              <a:rPr lang="fr-FR" dirty="0" smtClean="0"/>
              <a:t>Utilisé</a:t>
            </a:r>
            <a:r>
              <a:rPr lang="fr-FR" baseline="0" dirty="0" smtClean="0"/>
              <a:t> en apprentissage, en science, en appli, en os, en web</a:t>
            </a:r>
            <a:br>
              <a:rPr lang="fr-FR" baseline="0" dirty="0" smtClean="0"/>
            </a:br>
            <a:r>
              <a:rPr lang="fr-FR" baseline="0" dirty="0" smtClean="0"/>
              <a:t>Langage interprété, debugger incorporé, beaucoup de bibliothèques communautaires</a:t>
            </a:r>
          </a:p>
          <a:p>
            <a:r>
              <a:rPr lang="fr-FR" baseline="0" dirty="0" smtClean="0"/>
              <a:t>Extensible avec des bibliothèques C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96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Interpreteur</a:t>
            </a:r>
            <a:r>
              <a:rPr lang="fr-FR" baseline="0" dirty="0" smtClean="0"/>
              <a:t> python : un simple cmd suffit</a:t>
            </a:r>
          </a:p>
          <a:p>
            <a:r>
              <a:rPr lang="fr-FR" baseline="0" dirty="0" smtClean="0"/>
              <a:t>Programme python : un fichier qui a pour extension .</a:t>
            </a:r>
            <a:r>
              <a:rPr lang="fr-FR" baseline="0" dirty="0" err="1" smtClean="0"/>
              <a:t>py</a:t>
            </a:r>
            <a:endParaRPr lang="fr-FR" baseline="0" dirty="0" smtClean="0"/>
          </a:p>
          <a:p>
            <a:r>
              <a:rPr lang="fr-FR" baseline="0" dirty="0" err="1" smtClean="0"/>
              <a:t>Pycharm</a:t>
            </a:r>
            <a:r>
              <a:rPr lang="fr-FR" baseline="0" dirty="0" smtClean="0"/>
              <a:t> (gestion de </a:t>
            </a:r>
            <a:r>
              <a:rPr lang="fr-FR" baseline="0" dirty="0" err="1" smtClean="0"/>
              <a:t>repertoire</a:t>
            </a:r>
            <a:r>
              <a:rPr lang="fr-FR" baseline="0" dirty="0" smtClean="0"/>
              <a:t> projet, dépendances, auto-complétion)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077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Interpreteur</a:t>
            </a:r>
            <a:r>
              <a:rPr lang="fr-FR" baseline="0" dirty="0" smtClean="0"/>
              <a:t> python : un simple cmd suffit</a:t>
            </a:r>
          </a:p>
          <a:p>
            <a:r>
              <a:rPr lang="fr-FR" baseline="0" dirty="0" err="1" smtClean="0"/>
              <a:t>Pycharm</a:t>
            </a:r>
            <a:r>
              <a:rPr lang="fr-FR" baseline="0" dirty="0" smtClean="0"/>
              <a:t> (gestion de </a:t>
            </a:r>
            <a:r>
              <a:rPr lang="fr-FR" baseline="0" dirty="0" err="1" smtClean="0"/>
              <a:t>repertoire</a:t>
            </a:r>
            <a:r>
              <a:rPr lang="fr-FR" baseline="0" dirty="0" smtClean="0"/>
              <a:t> projet, dépendances</a:t>
            </a:r>
            <a:r>
              <a:rPr lang="fr-FR" baseline="0" smtClean="0"/>
              <a:t>, auto-complétion)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770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312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12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52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187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892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138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857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67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652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96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294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968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6572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647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25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9008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64375-EE74-1B43-ADD9-C3016E9127A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941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45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32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98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74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69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49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02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08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68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15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4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091AA-3F0C-4182-9D7B-1EB634D8256B}" type="datetimeFigureOut">
              <a:rPr lang="fr-FR" smtClean="0"/>
              <a:t>15/12/2021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5B0E8-7D99-4688-B6D3-8DC5133195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72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24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28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2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hyperlink" Target="https://docs.python.org/3/library/functions.html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/>
          <a:stretch/>
        </p:blipFill>
        <p:spPr>
          <a:xfrm>
            <a:off x="-1" y="1161751"/>
            <a:ext cx="12247963" cy="569624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696885"/>
            <a:ext cx="1219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Présentation ADRAR Pôle Numérique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6456211" y="1313092"/>
            <a:ext cx="4151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</a:rPr>
              <a:t>Suivez-nous… </a:t>
            </a:r>
            <a:r>
              <a:rPr lang="fr-FR" sz="1000" dirty="0" smtClean="0">
                <a:solidFill>
                  <a:schemeClr val="bg1"/>
                </a:solidFill>
              </a:rPr>
              <a:t>LinkedIn            et Twitter           </a:t>
            </a:r>
            <a:r>
              <a:rPr lang="fr-FR" sz="1000" b="1" dirty="0" smtClean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0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endParaRPr lang="fr-FR" sz="1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541" y="1320857"/>
            <a:ext cx="228243" cy="217374"/>
          </a:xfrm>
          <a:prstGeom prst="rect">
            <a:avLst/>
          </a:prstGeom>
        </p:spPr>
      </p:pic>
      <p:pic>
        <p:nvPicPr>
          <p:cNvPr id="42" name="Image 41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911" y="1344858"/>
            <a:ext cx="169371" cy="169371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16" name="Groupe 15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19" name="Image 18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20" name="Image 19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21" name="Image 20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22" name="Image 21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Image 23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25" name="Image 24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26" name="Image 25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44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32" y="2342366"/>
            <a:ext cx="9994522" cy="239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9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161" y="1421952"/>
            <a:ext cx="6176464" cy="415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0" name="Image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01" y="1406613"/>
            <a:ext cx="4276976" cy="427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4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3" name="ZoneTexte 2"/>
          <p:cNvSpPr txBox="1"/>
          <p:nvPr/>
        </p:nvSpPr>
        <p:spPr>
          <a:xfrm>
            <a:off x="1899251" y="2723737"/>
            <a:ext cx="80291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u="sng" dirty="0" smtClean="0"/>
              <a:t>EXECUTION D’UN PROGRAMME</a:t>
            </a:r>
            <a:endParaRPr lang="fr-FR" sz="6600" b="1" u="sng" dirty="0"/>
          </a:p>
        </p:txBody>
      </p:sp>
    </p:spTree>
    <p:extLst>
      <p:ext uri="{BB962C8B-B14F-4D97-AF65-F5344CB8AC3E}">
        <p14:creationId xmlns:p14="http://schemas.microsoft.com/office/powerpoint/2010/main" val="418694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3" name="ZoneTexte 2"/>
          <p:cNvSpPr txBox="1"/>
          <p:nvPr/>
        </p:nvSpPr>
        <p:spPr>
          <a:xfrm>
            <a:off x="1987220" y="1865119"/>
            <a:ext cx="85957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smtClean="0"/>
              <a:t>Dans un fichier appelé helloworld.py inscrivez la ligne de code suivante :</a:t>
            </a: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4206" y="3877448"/>
            <a:ext cx="5787869" cy="15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6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3" name="ZoneTexte 2"/>
          <p:cNvSpPr txBox="1"/>
          <p:nvPr/>
        </p:nvSpPr>
        <p:spPr>
          <a:xfrm>
            <a:off x="1059208" y="1443591"/>
            <a:ext cx="100803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smtClean="0"/>
              <a:t>Pour démarrer votre premier programme python il suffit de l’appeler dans un cmd avec la commande python</a:t>
            </a:r>
            <a:endParaRPr lang="fr-FR" sz="4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997" y="4054683"/>
            <a:ext cx="10762792" cy="14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0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3" name="ZoneTexte 2"/>
          <p:cNvSpPr txBox="1"/>
          <p:nvPr/>
        </p:nvSpPr>
        <p:spPr>
          <a:xfrm>
            <a:off x="1899251" y="2723737"/>
            <a:ext cx="80291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u="sng" dirty="0" smtClean="0"/>
              <a:t>LES VARIABLES</a:t>
            </a:r>
            <a:endParaRPr lang="fr-FR" sz="6600" b="1" u="sng" dirty="0"/>
          </a:p>
        </p:txBody>
      </p:sp>
    </p:spTree>
    <p:extLst>
      <p:ext uri="{BB962C8B-B14F-4D97-AF65-F5344CB8AC3E}">
        <p14:creationId xmlns:p14="http://schemas.microsoft.com/office/powerpoint/2010/main" val="85640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2" name="ZoneTexte 1"/>
          <p:cNvSpPr txBox="1"/>
          <p:nvPr/>
        </p:nvSpPr>
        <p:spPr>
          <a:xfrm>
            <a:off x="680899" y="1523568"/>
            <a:ext cx="37533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Pas de déclaration de type de variable (mais variable typé !)</a:t>
            </a:r>
          </a:p>
          <a:p>
            <a:endParaRPr lang="fr-FR" sz="3200" dirty="0" smtClean="0"/>
          </a:p>
          <a:p>
            <a:r>
              <a:rPr lang="fr-FR" sz="3200" dirty="0" smtClean="0"/>
              <a:t>Nom de variable sensible à la casse</a:t>
            </a:r>
          </a:p>
          <a:p>
            <a:endParaRPr lang="fr-FR" sz="3200" dirty="0" smtClean="0"/>
          </a:p>
          <a:p>
            <a:r>
              <a:rPr lang="fr-FR" sz="3200" dirty="0" smtClean="0"/>
              <a:t>Affectation de valeur à une variable par le symbole  « = »</a:t>
            </a:r>
            <a:endParaRPr lang="fr-FR" sz="32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3275" y="1523568"/>
            <a:ext cx="6198992" cy="48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9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5865" y="1501857"/>
            <a:ext cx="6475955" cy="467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7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4050" y="1678488"/>
            <a:ext cx="4135708" cy="4404261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05026" y="2614193"/>
            <a:ext cx="53611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Voici les diverse opération mathématique possibles.</a:t>
            </a:r>
          </a:p>
          <a:p>
            <a:r>
              <a:rPr lang="fr-FR" dirty="0" smtClean="0"/>
              <a:t>Vous devriez comprendre par vous-même les premières opérations. </a:t>
            </a:r>
          </a:p>
          <a:p>
            <a:endParaRPr lang="fr-FR" dirty="0" smtClean="0"/>
          </a:p>
          <a:p>
            <a:r>
              <a:rPr lang="fr-FR" dirty="0" smtClean="0"/>
              <a:t>Le symbole « // » permet de réaliser une division entière. Dans ce cas c vaudra 3.</a:t>
            </a:r>
          </a:p>
          <a:p>
            <a:endParaRPr lang="fr-FR" dirty="0" smtClean="0"/>
          </a:p>
          <a:p>
            <a:r>
              <a:rPr lang="fr-FR" dirty="0" smtClean="0"/>
              <a:t>Le symbole « % » permet de faire le modulo de 2 valeur (donc de récupérer le reste de la division). Dans ce cas c vaudra 1.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Le symbole « ** » permet de faire la puissance entre deux valeurs. Dans ce cas c vaudra 49 (7 puissance 2)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502572" y="1560973"/>
            <a:ext cx="63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OPERATEURS MATHEMATIQUES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77494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18" name="ZoneTexte 17"/>
          <p:cNvSpPr txBox="1"/>
          <p:nvPr/>
        </p:nvSpPr>
        <p:spPr>
          <a:xfrm>
            <a:off x="502572" y="1560973"/>
            <a:ext cx="63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OPERATEURS D’AFFECTATION</a:t>
            </a:r>
            <a:endParaRPr lang="fr-FR" sz="36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1945" y="1560973"/>
            <a:ext cx="3499786" cy="4646004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02572" y="2367419"/>
            <a:ext cx="62240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Les opérateurs d’affectation vous permettent d’affecter une valeur à une variable grâce au symbole « = ».</a:t>
            </a:r>
          </a:p>
          <a:p>
            <a:endParaRPr lang="fr-FR" dirty="0"/>
          </a:p>
          <a:p>
            <a:r>
              <a:rPr lang="fr-FR" dirty="0" smtClean="0"/>
              <a:t>Lorsque vous ajoutez un signe opératoire avant le « = » cela permet d’effectuer une opération mathématique ou logique en plus de l’affectation.</a:t>
            </a:r>
          </a:p>
          <a:p>
            <a:endParaRPr lang="fr-FR" dirty="0"/>
          </a:p>
          <a:p>
            <a:r>
              <a:rPr lang="fr-FR" dirty="0" smtClean="0"/>
              <a:t>« a += 1 » veut dire « a = a + 1 »</a:t>
            </a:r>
          </a:p>
          <a:p>
            <a:endParaRPr lang="fr-FR" dirty="0"/>
          </a:p>
          <a:p>
            <a:r>
              <a:rPr lang="fr-FR" dirty="0" smtClean="0"/>
              <a:t>« a &amp;= 3 » veut dire « a = a &amp; 3 » </a:t>
            </a:r>
            <a:r>
              <a:rPr lang="fr-FR" dirty="0" smtClean="0">
                <a:sym typeface="Wingdings" panose="05000000000000000000" pitchFamily="2" charset="2"/>
              </a:rPr>
              <a:t> « a » sera donc un booléen</a:t>
            </a:r>
          </a:p>
        </p:txBody>
      </p:sp>
    </p:spTree>
    <p:extLst>
      <p:ext uri="{BB962C8B-B14F-4D97-AF65-F5344CB8AC3E}">
        <p14:creationId xmlns:p14="http://schemas.microsoft.com/office/powerpoint/2010/main" val="300403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18" name="ZoneTexte 17"/>
          <p:cNvSpPr txBox="1"/>
          <p:nvPr/>
        </p:nvSpPr>
        <p:spPr>
          <a:xfrm>
            <a:off x="502572" y="1560973"/>
            <a:ext cx="63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OPERATEURS DE COMPARAISON</a:t>
            </a:r>
            <a:endParaRPr lang="fr-FR" sz="36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7152" y="1560973"/>
            <a:ext cx="4747625" cy="4726802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02572" y="2935578"/>
            <a:ext cx="63992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Afin d’effectuer des test, ou pour créer des booléen, on va pouvoir utiliser des opérateurs de comparaison.</a:t>
            </a:r>
          </a:p>
          <a:p>
            <a:endParaRPr lang="fr-FR" dirty="0"/>
          </a:p>
          <a:p>
            <a:r>
              <a:rPr lang="fr-FR" dirty="0" smtClean="0"/>
              <a:t>Attention a ne pas confondre « = » permettant d’affecter une valeur à une variable et « == » permettant de comparer deux valeurs.</a:t>
            </a:r>
          </a:p>
          <a:p>
            <a:endParaRPr lang="fr-FR" dirty="0"/>
          </a:p>
          <a:p>
            <a:r>
              <a:rPr lang="fr-FR" dirty="0" smtClean="0"/>
              <a:t>Le symbole « != » veut </a:t>
            </a:r>
            <a:r>
              <a:rPr lang="fr-FR" smtClean="0"/>
              <a:t>dire différent de.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745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3665" y="2317941"/>
            <a:ext cx="8703958" cy="2488554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899844" y="1302278"/>
            <a:ext cx="9731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smtClean="0"/>
              <a:t>Opérateurs logiques</a:t>
            </a:r>
            <a:endParaRPr lang="fr-FR" sz="6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7967" y="4814545"/>
            <a:ext cx="9823311" cy="731371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899844" y="5785685"/>
            <a:ext cx="1154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Attention : l’inverse du OU est le ET. « not( a &amp; b) » = « not a OU not b »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83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3" name="ZoneTexte 2"/>
          <p:cNvSpPr txBox="1"/>
          <p:nvPr/>
        </p:nvSpPr>
        <p:spPr>
          <a:xfrm>
            <a:off x="1899251" y="2723737"/>
            <a:ext cx="84347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u="sng" dirty="0" smtClean="0"/>
              <a:t>ENTREE / SORTIE</a:t>
            </a:r>
            <a:endParaRPr lang="fr-FR" sz="6600" b="1" u="sng" dirty="0"/>
          </a:p>
        </p:txBody>
      </p:sp>
    </p:spTree>
    <p:extLst>
      <p:ext uri="{BB962C8B-B14F-4D97-AF65-F5344CB8AC3E}">
        <p14:creationId xmlns:p14="http://schemas.microsoft.com/office/powerpoint/2010/main" val="98943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4415727"/>
            <a:ext cx="6978166" cy="125526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75574" y="4415727"/>
            <a:ext cx="5123212" cy="125526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1295757" y="1738071"/>
            <a:ext cx="9244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En Python, afin d’enregistrer dans une variable une information saisie par l’utilisateur on va utiliser la fonction input(). La chaine de caractères passé en paramètre de la fonction va être afficher à l’écran. Suite à l’affichage de cette chaine de caractères l’utilisateur aura la possibilité de saisir une information. L’appuie sur la touche entrée permettra à l’utilisateur de valider sa saisie.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8250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2" name="ZoneTexte 1"/>
          <p:cNvSpPr txBox="1"/>
          <p:nvPr/>
        </p:nvSpPr>
        <p:spPr>
          <a:xfrm>
            <a:off x="171770" y="3872919"/>
            <a:ext cx="32886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Par défaut python met un espace entre les données mise en paramètre de la fonction </a:t>
            </a:r>
            <a:r>
              <a:rPr lang="fr-FR" dirty="0" err="1" smtClean="0"/>
              <a:t>print</a:t>
            </a:r>
            <a:r>
              <a:rPr lang="fr-FR" dirty="0" smtClean="0"/>
              <a:t>(). Il est possible de définir quel caractère ou chaine de caractère vous désirez comme séparateur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3978" y="1443035"/>
            <a:ext cx="7193534" cy="698062"/>
          </a:xfrm>
          <a:prstGeom prst="rect">
            <a:avLst/>
          </a:prstGeom>
        </p:spPr>
      </p:pic>
      <p:sp>
        <p:nvSpPr>
          <p:cNvPr id="24" name="ZoneTexte 23"/>
          <p:cNvSpPr txBox="1"/>
          <p:nvPr/>
        </p:nvSpPr>
        <p:spPr>
          <a:xfrm>
            <a:off x="113558" y="1445973"/>
            <a:ext cx="45210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Pour afficher des informations à l’écran nous utilisons la fonction </a:t>
            </a:r>
            <a:r>
              <a:rPr lang="fr-FR" dirty="0" err="1" smtClean="0"/>
              <a:t>print</a:t>
            </a:r>
            <a:r>
              <a:rPr lang="fr-FR" dirty="0" smtClean="0"/>
              <a:t>() qui prend en paramètres une variable ou une valeur (chaine de caractère, entier, </a:t>
            </a:r>
            <a:r>
              <a:rPr lang="fr-FR" dirty="0" err="1" smtClean="0"/>
              <a:t>float</a:t>
            </a:r>
            <a:r>
              <a:rPr lang="fr-FR" dirty="0" smtClean="0"/>
              <a:t>, liste, dictionnaire, booléen, un </a:t>
            </a:r>
            <a:r>
              <a:rPr lang="fr-FR" dirty="0" err="1" smtClean="0"/>
              <a:t>tuple</a:t>
            </a:r>
            <a:r>
              <a:rPr lang="fr-FR" dirty="0" smtClean="0"/>
              <a:t>). Pour afficher plusieurs éléments dans un </a:t>
            </a:r>
            <a:r>
              <a:rPr lang="fr-FR" dirty="0" err="1" smtClean="0"/>
              <a:t>print</a:t>
            </a:r>
            <a:r>
              <a:rPr lang="fr-FR" dirty="0" smtClean="0"/>
              <a:t> nous les séparons d’une virgule.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3978" y="2438681"/>
            <a:ext cx="4410650" cy="69741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942" y="3890234"/>
            <a:ext cx="7035310" cy="56320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01994" y="4874276"/>
            <a:ext cx="4410650" cy="5632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558" y="1367586"/>
            <a:ext cx="4521072" cy="2109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113558" y="3771430"/>
            <a:ext cx="4521072" cy="2109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80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2202" y="1406613"/>
            <a:ext cx="4218035" cy="146184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7543" y="1764642"/>
            <a:ext cx="2793631" cy="108386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13558" y="1367586"/>
            <a:ext cx="4521072" cy="167623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113558" y="1445973"/>
            <a:ext cx="45210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Il est également possible de définir le caractère ou la chaine de caractère par lequel vous désirer terminer l’affichage.</a:t>
            </a:r>
            <a:br>
              <a:rPr lang="fr-FR" dirty="0" smtClean="0"/>
            </a:br>
            <a:r>
              <a:rPr lang="fr-FR" dirty="0" smtClean="0"/>
              <a:t>La chaine de caractère « \n » vous permet de générer un retour à la ligne.</a:t>
            </a:r>
            <a:endParaRPr lang="fr-FR" dirty="0"/>
          </a:p>
        </p:txBody>
      </p:sp>
      <p:sp>
        <p:nvSpPr>
          <p:cNvPr id="24" name="Rectangle 23"/>
          <p:cNvSpPr/>
          <p:nvPr/>
        </p:nvSpPr>
        <p:spPr>
          <a:xfrm>
            <a:off x="113558" y="3771430"/>
            <a:ext cx="4521072" cy="2109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171770" y="3872919"/>
            <a:ext cx="42749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Il existe deux possibilités pour afficher des chaines de caractères et des variables dans le même </a:t>
            </a:r>
            <a:r>
              <a:rPr lang="fr-FR" dirty="0" err="1" smtClean="0"/>
              <a:t>print</a:t>
            </a:r>
            <a:r>
              <a:rPr lang="fr-FR" dirty="0" smtClean="0"/>
              <a:t>():</a:t>
            </a:r>
            <a:br>
              <a:rPr lang="fr-FR" dirty="0" smtClean="0"/>
            </a:br>
            <a:r>
              <a:rPr lang="fr-FR" dirty="0" smtClean="0"/>
              <a:t>- les séparer par des « , »</a:t>
            </a:r>
            <a:br>
              <a:rPr lang="fr-FR" dirty="0" smtClean="0"/>
            </a:br>
            <a:r>
              <a:rPr lang="fr-FR" dirty="0" smtClean="0"/>
              <a:t>- mettre « {} » dans la chaine de caractères et utiliser la fonction format() de </a:t>
            </a:r>
            <a:r>
              <a:rPr lang="fr-FR" dirty="0" err="1" smtClean="0"/>
              <a:t>print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1677" y="3734970"/>
            <a:ext cx="5766318" cy="144782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41677" y="5302136"/>
            <a:ext cx="4748419" cy="10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8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19" name="ZoneTexte 18"/>
          <p:cNvSpPr txBox="1"/>
          <p:nvPr/>
        </p:nvSpPr>
        <p:spPr>
          <a:xfrm>
            <a:off x="1295757" y="1738071"/>
            <a:ext cx="9244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Ces deux fonctions, </a:t>
            </a:r>
            <a:r>
              <a:rPr lang="fr-FR" sz="2400" i="1" dirty="0" err="1" smtClean="0"/>
              <a:t>print</a:t>
            </a:r>
            <a:r>
              <a:rPr lang="fr-FR" sz="2400" i="1" dirty="0" smtClean="0"/>
              <a:t>() </a:t>
            </a:r>
            <a:r>
              <a:rPr lang="fr-FR" sz="2400" dirty="0" smtClean="0"/>
              <a:t>et </a:t>
            </a:r>
            <a:r>
              <a:rPr lang="fr-FR" sz="2400" i="1" dirty="0" smtClean="0"/>
              <a:t>input()</a:t>
            </a:r>
            <a:r>
              <a:rPr lang="fr-FR" sz="2400" dirty="0" smtClean="0"/>
              <a:t>, sont ce qu’on appel des fonctions </a:t>
            </a:r>
            <a:r>
              <a:rPr lang="fr-FR" sz="2400" dirty="0" err="1" smtClean="0"/>
              <a:t>built</a:t>
            </a:r>
            <a:r>
              <a:rPr lang="fr-FR" sz="2400" dirty="0" smtClean="0"/>
              <a:t>-in. Il existe beaucoup de fonctions de ce type qui peuvent, contrairement à des méthodes de classes, s’appliquer sur divers objets. Ces fonctions sont très régulièrement utilisés et je vous recommande d’aller les consulter.</a:t>
            </a:r>
            <a:endParaRPr lang="fr-FR" sz="2400" dirty="0"/>
          </a:p>
        </p:txBody>
      </p:sp>
      <p:sp>
        <p:nvSpPr>
          <p:cNvPr id="2" name="ZoneTexte 1"/>
          <p:cNvSpPr txBox="1"/>
          <p:nvPr/>
        </p:nvSpPr>
        <p:spPr>
          <a:xfrm>
            <a:off x="1499785" y="4017348"/>
            <a:ext cx="9199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hlinkClick r:id="rId14"/>
              </a:rPr>
              <a:t>https://</a:t>
            </a:r>
            <a:r>
              <a:rPr lang="fr-FR" sz="3200" b="1" dirty="0" smtClean="0">
                <a:hlinkClick r:id="rId14"/>
              </a:rPr>
              <a:t>docs.python.org/3/library/functions.html</a:t>
            </a:r>
            <a:endParaRPr lang="fr-FR" sz="3200" b="1" dirty="0" smtClean="0"/>
          </a:p>
          <a:p>
            <a:endParaRPr lang="fr-FR" sz="3200" dirty="0" smtClean="0"/>
          </a:p>
          <a:p>
            <a:r>
              <a:rPr lang="fr-FR" sz="3200" dirty="0" smtClean="0"/>
              <a:t>Ou recherche </a:t>
            </a:r>
            <a:r>
              <a:rPr lang="fr-FR" sz="3200" dirty="0" err="1" smtClean="0"/>
              <a:t>google</a:t>
            </a:r>
            <a:r>
              <a:rPr lang="fr-FR" sz="3200" dirty="0" smtClean="0"/>
              <a:t> : python </a:t>
            </a:r>
            <a:r>
              <a:rPr lang="fr-FR" sz="3200" dirty="0" err="1" smtClean="0"/>
              <a:t>built</a:t>
            </a:r>
            <a:r>
              <a:rPr lang="fr-FR" sz="3200" dirty="0" smtClean="0"/>
              <a:t>-in </a:t>
            </a:r>
            <a:r>
              <a:rPr lang="fr-FR" sz="3200" dirty="0" err="1" smtClean="0"/>
              <a:t>functions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29048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3" name="ZoneTexte 2"/>
          <p:cNvSpPr txBox="1"/>
          <p:nvPr/>
        </p:nvSpPr>
        <p:spPr>
          <a:xfrm>
            <a:off x="1899251" y="2723737"/>
            <a:ext cx="84347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u="sng" dirty="0" smtClean="0"/>
              <a:t>EXERCICES</a:t>
            </a:r>
            <a:endParaRPr lang="fr-FR" sz="6600" b="1" u="sng" dirty="0"/>
          </a:p>
        </p:txBody>
      </p:sp>
    </p:spTree>
    <p:extLst>
      <p:ext uri="{BB962C8B-B14F-4D97-AF65-F5344CB8AC3E}">
        <p14:creationId xmlns:p14="http://schemas.microsoft.com/office/powerpoint/2010/main" val="21840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675503"/>
            <a:ext cx="12198786" cy="4785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02" y="6540326"/>
            <a:ext cx="253968" cy="253968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5216109" y="6532276"/>
            <a:ext cx="266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ADRAR Pôle Numérique Occitanie</a:t>
            </a: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696885"/>
            <a:ext cx="12198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Suivez-nous sur </a:t>
            </a:r>
            <a:r>
              <a:rPr lang="fr-FR" sz="1600" dirty="0" err="1">
                <a:solidFill>
                  <a:schemeClr val="bg1"/>
                </a:solidFill>
              </a:rPr>
              <a:t>LinkedIn</a:t>
            </a:r>
            <a:r>
              <a:rPr lang="fr-FR" sz="1600" dirty="0">
                <a:solidFill>
                  <a:schemeClr val="bg1"/>
                </a:solidFill>
              </a:rPr>
              <a:t>             </a:t>
            </a:r>
            <a:r>
              <a:rPr lang="fr-FR" sz="1600" dirty="0" err="1">
                <a:solidFill>
                  <a:schemeClr val="bg1"/>
                </a:solidFill>
              </a:rPr>
              <a:t>Twitter</a:t>
            </a:r>
            <a:r>
              <a:rPr lang="fr-FR" sz="1600" dirty="0">
                <a:solidFill>
                  <a:schemeClr val="bg1"/>
                </a:solidFill>
              </a:rPr>
              <a:t>      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fr-FR" sz="1900" b="1" dirty="0" err="1">
                <a:solidFill>
                  <a:schemeClr val="bg1">
                    <a:lumMod val="95000"/>
                  </a:schemeClr>
                </a:solidFill>
              </a:rPr>
              <a:t>Adrar_Numerique</a:t>
            </a:r>
            <a:r>
              <a:rPr lang="fr-FR" sz="1900" dirty="0">
                <a:solidFill>
                  <a:schemeClr val="bg1">
                    <a:lumMod val="95000"/>
                  </a:schemeClr>
                </a:solidFill>
              </a:rPr>
              <a:t>	… </a:t>
            </a:r>
            <a:r>
              <a:rPr lang="fr-FR" sz="1600" dirty="0">
                <a:solidFill>
                  <a:schemeClr val="bg1"/>
                </a:solidFill>
              </a:rPr>
              <a:t>et sur le web : </a:t>
            </a:r>
            <a:r>
              <a:rPr lang="fr-FR" sz="1900" b="1" dirty="0">
                <a:solidFill>
                  <a:schemeClr val="bg1">
                    <a:lumMod val="95000"/>
                  </a:schemeClr>
                </a:solidFill>
              </a:rPr>
              <a:t>www.adrar-numerique.com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48" y="762261"/>
            <a:ext cx="266667" cy="253968"/>
          </a:xfrm>
          <a:prstGeom prst="rect">
            <a:avLst/>
          </a:prstGeom>
        </p:spPr>
      </p:pic>
      <p:pic>
        <p:nvPicPr>
          <p:cNvPr id="33" name="Image 32" descr="logo-linkedin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4" y="783165"/>
            <a:ext cx="285752" cy="285752"/>
          </a:xfrm>
          <a:prstGeom prst="rect">
            <a:avLst/>
          </a:prstGeom>
        </p:spPr>
      </p:pic>
      <p:grpSp>
        <p:nvGrpSpPr>
          <p:cNvPr id="34" name="Groupe 33"/>
          <p:cNvGrpSpPr/>
          <p:nvPr/>
        </p:nvGrpSpPr>
        <p:grpSpPr>
          <a:xfrm>
            <a:off x="70311" y="-41891"/>
            <a:ext cx="12056372" cy="746449"/>
            <a:chOff x="70311" y="-41891"/>
            <a:chExt cx="12056372" cy="746449"/>
          </a:xfrm>
        </p:grpSpPr>
        <p:grpSp>
          <p:nvGrpSpPr>
            <p:cNvPr id="35" name="Groupe 34"/>
            <p:cNvGrpSpPr/>
            <p:nvPr/>
          </p:nvGrpSpPr>
          <p:grpSpPr>
            <a:xfrm>
              <a:off x="70311" y="-41891"/>
              <a:ext cx="12056372" cy="746449"/>
              <a:chOff x="51808" y="-49564"/>
              <a:chExt cx="12056372" cy="746449"/>
            </a:xfrm>
          </p:grpSpPr>
          <p:pic>
            <p:nvPicPr>
              <p:cNvPr id="37" name="Image 36" descr="bien plus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2599" y="228466"/>
                <a:ext cx="1289328" cy="364658"/>
              </a:xfrm>
              <a:prstGeom prst="rect">
                <a:avLst/>
              </a:prstGeom>
            </p:spPr>
          </p:pic>
          <p:pic>
            <p:nvPicPr>
              <p:cNvPr id="38" name="Image 37" descr="personnes-adrar-coul_1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40032" y="95784"/>
                <a:ext cx="510617" cy="506565"/>
              </a:xfrm>
              <a:prstGeom prst="rect">
                <a:avLst/>
              </a:prstGeom>
            </p:spPr>
          </p:pic>
          <p:pic>
            <p:nvPicPr>
              <p:cNvPr id="39" name="Image 38" descr="personnes-adrar-coul_2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441939" y="228467"/>
                <a:ext cx="346861" cy="352500"/>
              </a:xfrm>
              <a:prstGeom prst="rect">
                <a:avLst/>
              </a:prstGeom>
            </p:spPr>
          </p:pic>
          <p:pic>
            <p:nvPicPr>
              <p:cNvPr id="40" name="Image 39" descr="LOGO ADRAR 300dpi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808" y="51259"/>
                <a:ext cx="432261" cy="574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Image 48" descr="LOGO-ERN-GEN2017-1.png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9245"/>
              <a:stretch/>
            </p:blipFill>
            <p:spPr>
              <a:xfrm>
                <a:off x="6708147" y="12191"/>
                <a:ext cx="2275425" cy="669355"/>
              </a:xfrm>
              <a:prstGeom prst="rect">
                <a:avLst/>
              </a:prstGeom>
            </p:spPr>
          </p:pic>
          <p:pic>
            <p:nvPicPr>
              <p:cNvPr id="50" name="Image 49" descr="redim-06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00" b="26267"/>
              <a:stretch/>
            </p:blipFill>
            <p:spPr>
              <a:xfrm>
                <a:off x="10739120" y="30480"/>
                <a:ext cx="1369060" cy="620641"/>
              </a:xfrm>
              <a:prstGeom prst="rect">
                <a:avLst/>
              </a:prstGeom>
            </p:spPr>
          </p:pic>
          <p:pic>
            <p:nvPicPr>
              <p:cNvPr id="51" name="Image 50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02" t="22888" r="16244" b="27236"/>
              <a:stretch/>
            </p:blipFill>
            <p:spPr>
              <a:xfrm>
                <a:off x="8974241" y="-49564"/>
                <a:ext cx="1502229" cy="746449"/>
              </a:xfrm>
              <a:prstGeom prst="rect">
                <a:avLst/>
              </a:prstGeom>
            </p:spPr>
          </p:pic>
        </p:grpSp>
        <p:pic>
          <p:nvPicPr>
            <p:cNvPr id="36" name="Image 35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863" b="24898"/>
            <a:stretch/>
          </p:blipFill>
          <p:spPr>
            <a:xfrm>
              <a:off x="680899" y="90649"/>
              <a:ext cx="2612643" cy="537329"/>
            </a:xfrm>
            <a:prstGeom prst="rect">
              <a:avLst/>
            </a:prstGeom>
          </p:spPr>
        </p:pic>
      </p:grpSp>
      <p:sp>
        <p:nvSpPr>
          <p:cNvPr id="2" name="ZoneTexte 1"/>
          <p:cNvSpPr txBox="1"/>
          <p:nvPr/>
        </p:nvSpPr>
        <p:spPr>
          <a:xfrm>
            <a:off x="1434565" y="1871479"/>
            <a:ext cx="93296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 smtClean="0"/>
              <a:t>Réalisez </a:t>
            </a:r>
            <a:r>
              <a:rPr lang="fr-FR" sz="2800" dirty="0" smtClean="0"/>
              <a:t>un programme qui demandera à l’utilisateur son nom, son prénom et son année de naissance et qui affichera « Bonjour </a:t>
            </a:r>
            <a:r>
              <a:rPr lang="fr-FR" sz="2800" i="1" dirty="0" smtClean="0"/>
              <a:t>prénom nom</a:t>
            </a:r>
            <a:r>
              <a:rPr lang="fr-FR" sz="2800" dirty="0" smtClean="0"/>
              <a:t>, vous avez </a:t>
            </a:r>
            <a:r>
              <a:rPr lang="fr-FR" sz="2800" i="1" dirty="0" err="1" smtClean="0"/>
              <a:t>age</a:t>
            </a:r>
            <a:r>
              <a:rPr lang="fr-FR" sz="2800" dirty="0" smtClean="0"/>
              <a:t> ans </a:t>
            </a:r>
            <a:r>
              <a:rPr lang="fr-FR" sz="2800" dirty="0" smtClean="0"/>
              <a:t>».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Réalisez un programme qui demande 3 nombres à l’utilisateur et qui affiche la somme des 3 (accordez de l’importance au formatage de l’affichage)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Réalisez un programme qui demande un nombre à l’utilisateur et qui affiche le cube de ce nombre sans créer de nouvelle variable.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0448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3560</TotalTime>
  <Words>708</Words>
  <Application>Microsoft Office PowerPoint</Application>
  <PresentationFormat>Grand écran</PresentationFormat>
  <Paragraphs>119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chretienne jerome</dc:creator>
  <cp:lastModifiedBy>Maxime PRZYBYLO</cp:lastModifiedBy>
  <cp:revision>270</cp:revision>
  <dcterms:created xsi:type="dcterms:W3CDTF">2016-05-20T16:12:03Z</dcterms:created>
  <dcterms:modified xsi:type="dcterms:W3CDTF">2021-12-15T16:00:06Z</dcterms:modified>
</cp:coreProperties>
</file>